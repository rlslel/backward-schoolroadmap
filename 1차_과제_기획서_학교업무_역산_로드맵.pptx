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1차 과제 기획서 표지. 과제명과 3대 조건 충족(무설치·무로그인·서버 없음)을 첫 화면에서 선언한다.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페인포인트 3가지. 세 번째가 곧 차별점의 근거가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앵커 역산이 이 과제의 유일한 핵심 차별점이다. 시연 때 이 화면만 보여줘도 설명이 끝난다.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4개 분류는 태그이자 필터. 1번은 고정, 3번은 토글, 4번은 사용자 확장 영역이다.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D-day보다 기안 문구가 체감 가치가 크다. 근거 필드는 정확성 책임 리스크를 방어하는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 3개를 각각 어떤 설계로 만족시키는지 1:1로 대응시켜 보여준다. 심사 핵심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'필터가 꼬인다'는 논거는 시트 필터보기로 반박되므로 제외했다. 재계산·개인상태·산출물 전환 3개로 승부.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Firebase 등 백엔드를 의도적으로 배제. 로그인·무료티어 한도·개인정보 이슈를 모두 회피하는 선택.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범위를 좁힌 근거를 명시해 두면 심사에서 '기능이 적다'는 지적을 미리 방어할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9월 30일 주제 제출 시 사용할 한 줄 요약문을 그대로 실었다.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914400"/>
            <a:ext cx="3749040" cy="5029200"/>
          </a:xfrm>
          <a:prstGeom prst="roundRect">
            <a:avLst>
              <a:gd name="adj" fmla="val 3415"/>
            </a:avLst>
          </a:prstGeom>
          <a:solidFill>
            <a:srgbClr val="12394A"/>
          </a:solidFill>
          <a:ln w="12700">
            <a:solidFill>
              <a:srgbClr val="1E546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389888"/>
            <a:ext cx="274320" cy="274320"/>
          </a:xfrm>
          <a:prstGeom prst="ellipse">
            <a:avLst/>
          </a:prstGeom>
          <a:solidFill>
            <a:srgbClr val="3E7E9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41080" y="1371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D-30  물품 품의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366760" y="1700784"/>
            <a:ext cx="0" cy="603504"/>
          </a:xfrm>
          <a:prstGeom prst="line">
            <a:avLst/>
          </a:prstGeom>
          <a:noFill/>
          <a:ln w="15875">
            <a:solidFill>
              <a:srgbClr val="2A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2304288"/>
            <a:ext cx="274320" cy="274320"/>
          </a:xfrm>
          <a:prstGeom prst="ellipse">
            <a:avLst/>
          </a:prstGeom>
          <a:solidFill>
            <a:srgbClr val="3E7E9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41080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D-14  안전계획 수립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366760" y="2615184"/>
            <a:ext cx="0" cy="603504"/>
          </a:xfrm>
          <a:prstGeom prst="line">
            <a:avLst/>
          </a:prstGeom>
          <a:noFill/>
          <a:ln w="15875">
            <a:solidFill>
              <a:srgbClr val="2A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3218688"/>
            <a:ext cx="274320" cy="274320"/>
          </a:xfrm>
          <a:prstGeom prst="ellipse">
            <a:avLst/>
          </a:prstGeom>
          <a:solidFill>
            <a:srgbClr val="3E7E9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41080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D-7   가정통신문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66760" y="3529584"/>
            <a:ext cx="0" cy="603504"/>
          </a:xfrm>
          <a:prstGeom prst="line">
            <a:avLst/>
          </a:prstGeom>
          <a:noFill/>
          <a:ln w="15875">
            <a:solidFill>
              <a:srgbClr val="2A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4133088"/>
            <a:ext cx="274320" cy="274320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41080" y="41148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D-DAY  체육대회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66760" y="4443984"/>
            <a:ext cx="0" cy="603504"/>
          </a:xfrm>
          <a:prstGeom prst="line">
            <a:avLst/>
          </a:prstGeom>
          <a:noFill/>
          <a:ln w="15875">
            <a:solidFill>
              <a:srgbClr val="2A6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5047488"/>
            <a:ext cx="274320" cy="274320"/>
          </a:xfrm>
          <a:prstGeom prst="ellipse">
            <a:avLst/>
          </a:prstGeom>
          <a:solidFill>
            <a:srgbClr val="3E7E9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41080" y="50292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D+3   예산 정산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1143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세종 AI 현장 지원단 · 초등학교팀 · 1차 개발 과제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1645920"/>
            <a:ext cx="6949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행사일 하나만 넣으면</a:t>
            </a:r>
            <a:endParaRPr lang="en-US" sz="3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일정이 펼쳐지는</a:t>
            </a:r>
            <a:endParaRPr lang="en-US" sz="3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학교업무 역산 로드맵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40690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무설치 · 무로그인 · 서버 없이 브라우저에서 즉시 작동하는 웹앱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4709160"/>
            <a:ext cx="2926080" cy="0"/>
          </a:xfrm>
          <a:prstGeom prst="line">
            <a:avLst/>
          </a:prstGeom>
          <a:noFill/>
          <a:ln w="25400">
            <a:solidFill>
              <a:srgbClr val="E08D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9377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2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기간  2026. 10. 1. ~ 10. 20.   |   제출  2026. 10. 30.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528523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B2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초등학교팀 위원  ·  세종 ○○초등학교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 · 문제 정의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전입교사는 「언제」가 아니라 「지금」을 놓친다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2267712"/>
            <a:ext cx="566928" cy="566928"/>
          </a:xfrm>
          <a:prstGeom prst="ellipse">
            <a:avLst/>
          </a:prstGeom>
          <a:solidFill>
            <a:srgbClr val="123B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3026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시기를 놓친다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350215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 당일 날짜만 알고 사전 필수 절차를 역산하지 못해 품의·안전계획이 뒤늦게 올라간다. 결재가 밀리면 곧바로 감사 지적과 일정 지연으로 이어진다.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267712"/>
            <a:ext cx="566928" cy="566928"/>
          </a:xfrm>
          <a:prstGeom prst="ellipse">
            <a:avLst/>
          </a:prstGeom>
          <a:solidFill>
            <a:srgbClr val="123B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026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물어볼 사람이 없다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50215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전임자는 이미 전출했고, 남은 기록은 작년 공문 폴더뿐이다. 생소한 부서를 처음 맡은 교사는 「무엇을 모르는지」조차 모른다.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47304" y="1965960"/>
            <a:ext cx="3419856" cy="3246120"/>
          </a:xfrm>
          <a:prstGeom prst="roundRect">
            <a:avLst>
              <a:gd name="adj" fmla="val 2535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39912" y="2267712"/>
            <a:ext cx="566928" cy="566928"/>
          </a:xfrm>
          <a:prstGeom prst="ellipse">
            <a:avLst/>
          </a:prstGeom>
          <a:solidFill>
            <a:srgbClr val="123B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39912" y="22677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3026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자료는 평면적이다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3502152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시트 연간 일정표는 날짜의 나열일 뿐, 행사일이 바뀌면 딸린 준비 업무 날짜를 사람이 하나씩 다시 계산해야 한다.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통증은 「일정을 모른다」가 아니라 「역산이 안 된다」는 데 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SOLUTION · 핵심 개념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앵커(Anchor) 하나를 옮기면, 준비 일정 전체가 따라온다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8988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행사일 1개만 지정하면 선행·후행 업무가 자동으로 계산되어 체크리스트로 펼쳐집니다.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2011680"/>
            <a:ext cx="10972800" cy="2148840"/>
          </a:xfrm>
          <a:prstGeom prst="roundRect">
            <a:avLst>
              <a:gd name="adj" fmla="val 4255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3017520"/>
            <a:ext cx="9326880" cy="0"/>
          </a:xfrm>
          <a:prstGeom prst="line">
            <a:avLst/>
          </a:prstGeom>
          <a:noFill/>
          <a:ln w="19050">
            <a:solidFill>
              <a:srgbClr val="B6CB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2679192"/>
            <a:ext cx="676656" cy="676656"/>
          </a:xfrm>
          <a:prstGeom prst="ellipse">
            <a:avLst/>
          </a:prstGeom>
          <a:solidFill>
            <a:srgbClr val="2E7D8F"/>
          </a:solidFill>
          <a:ln/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26791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D-30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물품 품의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2679192"/>
            <a:ext cx="676656" cy="676656"/>
          </a:xfrm>
          <a:prstGeom prst="ellipse">
            <a:avLst/>
          </a:prstGeom>
          <a:solidFill>
            <a:srgbClr val="2E7D8F"/>
          </a:solidFill>
          <a:ln/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926080" y="26791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D-14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안전계획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42432" y="2679192"/>
            <a:ext cx="676656" cy="676656"/>
          </a:xfrm>
          <a:prstGeom prst="ellipse">
            <a:avLst/>
          </a:prstGeom>
          <a:solidFill>
            <a:srgbClr val="2E7D8F"/>
          </a:solidFill>
          <a:ln/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57800" y="26791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D-7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074920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가정통신문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91856" y="2596896"/>
            <a:ext cx="841248" cy="841248"/>
          </a:xfrm>
          <a:prstGeom prst="ellipse">
            <a:avLst/>
          </a:prstGeom>
          <a:solidFill>
            <a:srgbClr val="E08D3C"/>
          </a:solidFill>
          <a:ln/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589520" y="2596896"/>
            <a:ext cx="1645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D-DAY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체육대회 5/8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405872" y="2679192"/>
            <a:ext cx="676656" cy="676656"/>
          </a:xfrm>
          <a:prstGeom prst="ellipse">
            <a:avLst/>
          </a:prstGeom>
          <a:solidFill>
            <a:srgbClr val="2E7D8F"/>
          </a:solidFill>
          <a:ln/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921240" y="267919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D+3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9738360" y="3584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예산 정산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877056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행사일을 5월 8일 → 5월 15일로 수정하면 위 5개 항목이 한 번에 재배치됩니다.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370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DF4EA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45354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주차(Week) 기본값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49011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매년 날짜가 달라지는 행사는 「3월 3주차」처럼 주차 단위로 먼저 배치해 두고, 확정되면 날짜로 고정합니다.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370832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DF4EA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92240" y="4535424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맞춤 필터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9011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학년·부서·업무 분류로 걸러 「내 업무만」 보는 상태가 브라우저에 그대로 저장됩니다.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STRUCTURE · 데이터 구조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업무를 4개 층으로 나누어 담습니다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551176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23B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26517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· 필수 공통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정보공시, 학교평가, 의무연수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50392" y="391363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대상이 되는 법정 의무 과업. 항상 최상단에 고정 표시되며 숨길 수 없습니다.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737360"/>
            <a:ext cx="2551176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8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6517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통상 학사 · 연례 행사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체육대회, 현장체험학습, 학부모총회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91363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절차가 규격화된 행사. 앵커 역산이 가장 강하게 작동하는 영역입니다.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737360"/>
            <a:ext cx="2551176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64808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5B8F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648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64808" y="26517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공모 · 목적 사업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64808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8F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늘봄학교, AI 선도학교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64808" y="391363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해당 학교만 수행하는 예산 사업. 토글로 켜고 끄도록 설계합니다.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5984" y="1737360"/>
            <a:ext cx="2551176" cy="338328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72016" y="2011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8AA9B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27201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26517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자율 · 특색 사업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272016" y="32735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AA9B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직접 추가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72016" y="391363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고유 과업을 교사가 직접 등록합니다. 2차 과제의 공유 기능으로 이어집니다.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440680"/>
            <a:ext cx="10972800" cy="786384"/>
          </a:xfrm>
          <a:prstGeom prst="roundRect">
            <a:avLst>
              <a:gd name="adj" fmla="val 10465"/>
            </a:avLst>
          </a:prstGeom>
          <a:solidFill>
            <a:srgbClr val="FDF4EA"/>
          </a:solidFill>
          <a:ln w="9525">
            <a:solidFill>
              <a:srgbClr val="F0D9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596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원칙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514600" y="5577840"/>
            <a:ext cx="8778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1번은 항상 켜져 있고, 3번은 학교 사정에 따라 끄고 켜며, 4번은 교사가 직접 채웁니다. 같은 앱이 학교마다 다른 모습이 되도록 하는 장치입니다.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· 업무 카드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「언제」만 알려주지 않고 「어떻게」까지 담습니다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전입교사가 실제로 막히는 지점은 날짜가 아니라 기안 방법입니다. 모든 업무 카드에 네 가지가 함께 들어갑니다.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148840"/>
            <a:ext cx="420624" cy="420624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80744" y="20848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기안 제목 예시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380744" y="23957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「2026학년도 교내 체육대회 물품 구입 품의」 — 복사 버튼 제공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2898648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3081528"/>
            <a:ext cx="420624" cy="420624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2104" y="3081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80744" y="30175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붙임 서류 목록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380744" y="332841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견적서 3부, 물품 내역서, 안전관리 계획서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831336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" y="4014216"/>
            <a:ext cx="420624" cy="420624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2104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80744" y="3950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틀리는 점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380744" y="426110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견적은 3개 업체 필수. 업체 회신이 늦으므로 D-35에 미리 요청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4764024"/>
            <a:ext cx="685800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2104" y="4946904"/>
            <a:ext cx="420624" cy="420624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2104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0744" y="488289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표기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380744" y="51937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학교체육진흥법 시행규칙 · 학교 안전관리 지침 (항목별 근거 명시)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818120" y="1965960"/>
            <a:ext cx="3749040" cy="3602736"/>
          </a:xfrm>
          <a:prstGeom prst="roundRect">
            <a:avLst>
              <a:gd name="adj" fmla="val 2538"/>
            </a:avLst>
          </a:prstGeom>
          <a:solidFill>
            <a:srgbClr val="0B27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92440" y="2240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「근거」가 필요한가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092440" y="2697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업무의 시기는 시도·연도별로 다릅니다. 잘못된 안내는 업무 간소화가 아니라 새로운 감사 위험이 됩니다.</a:t>
            </a: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endParaRPr lang="en-US" sz="12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항목마다 근거 법령·지침을 함께 표시하고, 화면 하단에 최종 확인 안내 문구를 고정합니다.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490118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B2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“본 일정은 참고용 표준안이며,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B2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시행일은 소속 학교 지침을 따릅니다.”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COMPLIANCE · 결과물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지원단 3대 조건을 설계 단계에서 충족합니다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3419856" cy="36576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12064" cy="512064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받아서 바로 쓸 수 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24612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로그인·회원가입 없음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서버·데이터베이스 없음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접속 즉시 실행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HTML 파일도 함께 배포해 업무망 차단 시 오프라인 사용 가능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691640"/>
            <a:ext cx="3419856" cy="36576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1965960"/>
            <a:ext cx="512064" cy="512064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60604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사용법 1쪽이 붙어 있다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24612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문제-해결-화면-효과 1쪽 PDF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 시 3단계 온보딩 내장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3장으로 설명 완결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47304" y="1691640"/>
            <a:ext cx="3419856" cy="3657600"/>
          </a:xfrm>
          <a:prstGeom prst="roundRect">
            <a:avLst>
              <a:gd name="adj" fmla="val 2406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21624" y="1965960"/>
            <a:ext cx="512064" cy="512064"/>
          </a:xfrm>
          <a:prstGeom prst="ellipse">
            <a:avLst/>
          </a:prstGeom>
          <a:solidFill>
            <a:srgbClr val="2E7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260604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없이 돌아간다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246120"/>
            <a:ext cx="28712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학생·교직원 실데이터 입력란 없음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성명 대신 직책만 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데이터는 브라우저에만 저장(네트워크 전송 0건)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「내 데이터 전체 삭제」 버튼 상시 제공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577840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서버가 없다는 것은 비용이 0원이라는 뜻이자, 개인정보가 나갈 곳이 없다는 뜻입니다.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DIFFERENTIATION · 차별점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연간일정 시트로는 할 수 없는 세 가지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794760" y="14173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연간일정 시트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818120" y="14173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웹앱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29968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행사일이 바뀌었을 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4760" y="1847088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2F4F5"/>
          </a:solidFill>
          <a:ln w="9525">
            <a:solidFill>
              <a:srgbClr val="E0E5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95928" y="2048256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886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딸린 준비 업무 날짜를 사람이 하나씩 다시 계산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8120" y="1847088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DF4EA"/>
          </a:solidFill>
          <a:ln w="9525">
            <a:solidFill>
              <a:srgbClr val="F0D9B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019288" y="2048256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1개만 수정하면 선행·후행 업무가 일괄 재배치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273552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「내 업무만」 보기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94760" y="3090672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2F4F5"/>
          </a:solidFill>
          <a:ln w="9525">
            <a:solidFill>
              <a:srgbClr val="E0E5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95928" y="3291840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886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문서라 필터 상태를 개인이 유지하기 어려움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818120" y="3090672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DF4EA"/>
          </a:solidFill>
          <a:ln w="9525">
            <a:solidFill>
              <a:srgbClr val="F0D9B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19288" y="3291840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브라우저에 필터·체크 상태가 그대로 저장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4517136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맡은 업무일 때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94760" y="4334256"/>
            <a:ext cx="3840480" cy="1097280"/>
          </a:xfrm>
          <a:prstGeom prst="roundRect">
            <a:avLst>
              <a:gd name="adj" fmla="val 6667"/>
            </a:avLst>
          </a:prstGeom>
          <a:solidFill>
            <a:srgbClr val="F2F4F5"/>
          </a:solidFill>
          <a:ln w="9525">
            <a:solidFill>
              <a:srgbClr val="E0E5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995928" y="4535424"/>
            <a:ext cx="34381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8868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날짜만 있고, 기안 방법은 옆자리에 물어야 함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4334256"/>
            <a:ext cx="3749040" cy="1097280"/>
          </a:xfrm>
          <a:prstGeom prst="roundRect">
            <a:avLst>
              <a:gd name="adj" fmla="val 6667"/>
            </a:avLst>
          </a:prstGeom>
          <a:solidFill>
            <a:srgbClr val="FDF4EA"/>
          </a:solidFill>
          <a:ln w="9525">
            <a:solidFill>
              <a:srgbClr val="F0D9BE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19288" y="4535424"/>
            <a:ext cx="3346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업무마다 기안 제목·붙임 서류·근거를 카드에 함께 표시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557784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나이스·업무포털의 학사일정은 「행사일」을 관리합니다. 이 앱은 그 행사에 딸린 「기안 절차」를 역산합니다.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6B7C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강한 차별점은 첫 번째 줄입니다. 시연에서도 이 장면 하나로 증명합니다.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TECH · 기술 구성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서버를 두지 않는 것이 이 과제의 기술 전략입니다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536192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프론트엔드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53619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Vite + React 정적 빌드. 외부 실행환경·설치 과정 없음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" y="2340864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239572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39572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Pages 정적 호스팅 + 단일 HTML 파일 동시 배포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3200400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3255264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3255264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LocalStorage. 스키마 버전(v)을 함께 저장해 2차 확장 시 데이터 보존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" y="4059936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" y="41148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출력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14800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브라우저 인쇄 기능 + 인쇄 전용 CSS. 한글 폰트 깨짐·용량 문제 원천 차단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919472"/>
            <a:ext cx="7040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3E0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" y="4974336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역산 엔진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4974336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날짜 라이브러리 없이 Date만으로 구현. 앵커 변경 시 화면 전체를 즉시 재계산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1481328"/>
            <a:ext cx="3566160" cy="4041648"/>
          </a:xfrm>
          <a:prstGeom prst="roundRect">
            <a:avLst>
              <a:gd name="adj" fmla="val 2564"/>
            </a:avLst>
          </a:prstGeom>
          <a:solidFill>
            <a:srgbClr val="0B27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5320" y="178308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0대</a:t>
            </a:r>
            <a:endParaRPr lang="en-US" sz="42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4780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서버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308152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0원</a:t>
            </a:r>
            <a:endParaRPr lang="en-US" sz="42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3776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 비용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4379976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0회</a:t>
            </a:r>
            <a:endParaRPr lang="en-US" sz="42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5074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절차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29184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 · 개발 일정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585216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안에 완성 가능한 범위로 좁혔습니다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551176" cy="475488"/>
          </a:xfrm>
          <a:prstGeom prst="roundRect">
            <a:avLst>
              <a:gd name="adj" fmla="val 15385"/>
            </a:avLst>
          </a:prstGeom>
          <a:solidFill>
            <a:srgbClr val="2E7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57276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1. ~ 10. 7.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2157984"/>
            <a:ext cx="2551176" cy="2651760"/>
          </a:xfrm>
          <a:prstGeom prst="roundRect">
            <a:avLst>
              <a:gd name="adj" fmla="val 3226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32104" y="237744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268833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필수 업무 DB 구축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3438144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분류 체계 확정, 업무 항목·하위 절차 정리 (근거 법령은 3주차까지 계속 보완)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572768"/>
            <a:ext cx="2551176" cy="475488"/>
          </a:xfrm>
          <a:prstGeom prst="roundRect">
            <a:avLst>
              <a:gd name="adj" fmla="val 15385"/>
            </a:avLst>
          </a:prstGeom>
          <a:solidFill>
            <a:srgbClr val="2E7D8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01568" y="157276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8. ~ 10. 14.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401568" y="2157984"/>
            <a:ext cx="2551176" cy="2651760"/>
          </a:xfrm>
          <a:prstGeom prst="roundRect">
            <a:avLst>
              <a:gd name="adj" fmla="val 3226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639312" y="237744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39312" y="268833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역산 엔진 · 월별 뷰 개발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39312" y="3438144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앵커 기반 D-day 자동 계산, 체크 상태 저장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572768"/>
            <a:ext cx="2551176" cy="475488"/>
          </a:xfrm>
          <a:prstGeom prst="roundRect">
            <a:avLst>
              <a:gd name="adj" fmla="val 15385"/>
            </a:avLst>
          </a:prstGeom>
          <a:solidFill>
            <a:srgbClr val="2E7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08776" y="157276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15. ~ 10. 20.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2157984"/>
            <a:ext cx="2551176" cy="2651760"/>
          </a:xfrm>
          <a:prstGeom prst="roundRect">
            <a:avLst>
              <a:gd name="adj" fmla="val 3226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446520" y="237744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68833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상호 테스트 반영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438144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초등학교팀 2인 이상 사용자 테스트 후 수정·보완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15984" y="1572768"/>
            <a:ext cx="2551176" cy="475488"/>
          </a:xfrm>
          <a:prstGeom prst="roundRect">
            <a:avLst>
              <a:gd name="adj" fmla="val 15385"/>
            </a:avLst>
          </a:prstGeom>
          <a:solidFill>
            <a:srgbClr val="E08D3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015984" y="1572768"/>
            <a:ext cx="2551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 21. ~ 10. 30.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15984" y="2157984"/>
            <a:ext cx="2551176" cy="2651760"/>
          </a:xfrm>
          <a:prstGeom prst="roundRect">
            <a:avLst>
              <a:gd name="adj" fmla="val 3226"/>
            </a:avLst>
          </a:prstGeom>
          <a:solidFill>
            <a:srgbClr val="F1F6F7"/>
          </a:solidFill>
          <a:ln w="9525">
            <a:solidFill>
              <a:srgbClr val="D3E0E4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AB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253728" y="2377440"/>
            <a:ext cx="2075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53728" y="268833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23B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1쪽 안내서 작성 및 제출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253728" y="3438144"/>
            <a:ext cx="2075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캡처 3장(앵커 수정 전후 비교 포함), 사용 안내 1쪽 PDF, 공유 시트 제출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" y="5029200"/>
            <a:ext cx="10972800" cy="841248"/>
          </a:xfrm>
          <a:prstGeom prst="roundRect">
            <a:avLst>
              <a:gd name="adj" fmla="val 9783"/>
            </a:avLst>
          </a:prstGeom>
          <a:solidFill>
            <a:srgbClr val="FDF4EA"/>
          </a:solidFill>
          <a:ln w="9525">
            <a:solidFill>
              <a:srgbClr val="F0D9B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1755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범위 관리 원칙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697480" y="5175504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C4A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10월은 학교가 가장 바쁜 시기입니다. 1차는 월별 뷰 하나와 역산 엔진만 확실히 완성하고, 부서별·학년별 뷰는 필터로 대체합니다. 조건을 완벽히 지킨 작은 앱이 기능 많은 앱보다 낫습니다.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6583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EXPECTED IMPACT · 기대 효과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960120"/>
            <a:ext cx="10972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3월에 부임한 교사가, 3월에 곧바로 일할 수 있게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3419856" cy="2606040"/>
          </a:xfrm>
          <a:prstGeom prst="roundRect">
            <a:avLst>
              <a:gd name="adj" fmla="val 3509"/>
            </a:avLst>
          </a:prstGeom>
          <a:solidFill>
            <a:srgbClr val="12394A"/>
          </a:solidFill>
          <a:ln w="12700">
            <a:solidFill>
              <a:srgbClr val="1E546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시기 누락 방지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1012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사전 절차는 행사 1건당 4~5건입니다. 행사일만 넣으면 자동으로 펼쳐져 품의·안전계획 누락을 막습니다.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0832" y="1965960"/>
            <a:ext cx="3419856" cy="2606040"/>
          </a:xfrm>
          <a:prstGeom prst="roundRect">
            <a:avLst>
              <a:gd name="adj" fmla="val 3509"/>
            </a:avLst>
          </a:prstGeom>
          <a:solidFill>
            <a:srgbClr val="12394A"/>
          </a:solidFill>
          <a:ln w="12700">
            <a:solidFill>
              <a:srgbClr val="1E54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2240280"/>
            <a:ext cx="457200" cy="457200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4515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비용 절감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331012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생소한 부서를 맡아도 첫날 한 화면에서 연간 21건 이상의 업무 흐름과 기안 방법을 함께 확인합니다.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47304" y="1965960"/>
            <a:ext cx="3419856" cy="2606040"/>
          </a:xfrm>
          <a:prstGeom prst="roundRect">
            <a:avLst>
              <a:gd name="adj" fmla="val 3509"/>
            </a:avLst>
          </a:prstGeom>
          <a:solidFill>
            <a:srgbClr val="12394A"/>
          </a:solidFill>
          <a:ln w="12700">
            <a:solidFill>
              <a:srgbClr val="1E54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1624" y="2240280"/>
            <a:ext cx="457200" cy="457200"/>
          </a:xfrm>
          <a:prstGeom prst="ellipse">
            <a:avLst/>
          </a:prstGeom>
          <a:solidFill>
            <a:srgbClr val="E08D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21624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21624" y="2834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기관 간 확산 용이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421624" y="3310128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C6DC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 하나 또는 파일 하나로 전달됩니다. 학교가 몇 곳으로 늘어도 서버 비용은 0원 그대로입니다.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4828032"/>
            <a:ext cx="10972800" cy="1005840"/>
          </a:xfrm>
          <a:prstGeom prst="roundRect">
            <a:avLst>
              <a:gd name="adj" fmla="val 8182"/>
            </a:avLst>
          </a:prstGeom>
          <a:solidFill>
            <a:srgbClr val="0F3242"/>
          </a:solidFill>
          <a:ln w="15875">
            <a:solidFill>
              <a:srgbClr val="E08D3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50109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8D3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4974336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3월 전입·신규 교사가 “지금 무엇을 기안해야 하는지” 놓치지 않도록, 행사일 하나만 입력하면 품의·안전계획·가정통신문·정산까지 선행·후행 업무를 자동 역산해 보여주는 무설치 웹앱입니다.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1차 과제 기획서 - 학교업무 역산 로드맵</dc:title>
  <dc:subject>PptxGenJS Presentation</dc:subject>
  <dc:creator>세종 AI 현장 지원단 초등학교팀</dc:creator>
  <cp:lastModifiedBy>세종 AI 현장 지원단 초등학교팀</cp:lastModifiedBy>
  <cp:revision>1</cp:revision>
  <dcterms:created xsi:type="dcterms:W3CDTF">2026-09-05T14:28:44Z</dcterms:created>
  <dcterms:modified xsi:type="dcterms:W3CDTF">2026-09-05T14:28:44Z</dcterms:modified>
</cp:coreProperties>
</file>